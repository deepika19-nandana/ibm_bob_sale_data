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3732f56e72c4b79" /><Relationship Type="http://schemas.openxmlformats.org/package/2006/relationships/metadata/core-properties" Target="/docProps/core.xml" Id="R37332ad659584322" /><Relationship Type="http://schemas.openxmlformats.org/officeDocument/2006/relationships/extended-properties" Target="/docProps/app.xml" Id="Reedec612a68942c2" /><Relationship Type="http://schemas.openxmlformats.org/officeDocument/2006/relationships/custom-properties" Target="/docProps/custom.xml" Id="Rceeac7eac41641b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74d16418bd5f4dd1"/>
  </p:notesMasterIdLst>
  <p:sldIdLst>
    <p:sldId id="256" r:id="Rbb21598c1b1e4403"/>
    <p:sldId id="257" r:id="Reb5a56f439ce4e1c"/>
    <p:sldId id="267" r:id="R077d73936d8844a4"/>
    <p:sldId id="258" r:id="R4bd09d468b3a4370"/>
    <p:sldId id="259" r:id="R31392f25a3d940cb"/>
    <p:sldId id="260" r:id="R58e42b718cab4fbf"/>
    <p:sldId id="261" r:id="Rf644be6b1ed146e3"/>
    <p:sldId id="262" r:id="R94a4561094094ff3"/>
    <p:sldId id="263" r:id="R3dae1fb2527f44c5"/>
    <p:sldId id="264" r:id="Re41ec529dd2047b6"/>
    <p:sldId id="265" r:id="Rb72961a1e28d415b"/>
    <p:sldId id="268" r:id="R2e5755505ec34970"/>
    <p:sldId id="266" r:id="R55c07d68c47e466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b21598c1b1e4403" /><Relationship Type="http://schemas.openxmlformats.org/officeDocument/2006/relationships/notesMaster" Target="/ppt/notesMasters/notesMaster1.xml" Id="R74d16418bd5f4dd1" /><Relationship Type="http://schemas.openxmlformats.org/officeDocument/2006/relationships/slide" Target="/ppt/slides/slide2.xml" Id="Reb5a56f439ce4e1c" /><Relationship Type="http://schemas.openxmlformats.org/officeDocument/2006/relationships/slide" Target="/ppt/slides/slide3.xml" Id="R4bd09d468b3a4370" /><Relationship Type="http://schemas.openxmlformats.org/officeDocument/2006/relationships/slide" Target="/ppt/slides/slide4.xml" Id="R31392f25a3d940cb" /><Relationship Type="http://schemas.openxmlformats.org/officeDocument/2006/relationships/slide" Target="/ppt/slides/slide5.xml" Id="R58e42b718cab4fbf" /><Relationship Type="http://schemas.openxmlformats.org/officeDocument/2006/relationships/slide" Target="/ppt/slides/slide6.xml" Id="Rf644be6b1ed146e3" /><Relationship Type="http://schemas.openxmlformats.org/officeDocument/2006/relationships/slide" Target="/ppt/slides/slide7.xml" Id="R94a4561094094ff3" /><Relationship Type="http://schemas.openxmlformats.org/officeDocument/2006/relationships/slide" Target="/ppt/slides/slide8.xml" Id="R3dae1fb2527f44c5" /><Relationship Type="http://schemas.openxmlformats.org/officeDocument/2006/relationships/slide" Target="/ppt/slides/slide9.xml" Id="Re41ec529dd2047b6" /><Relationship Type="http://schemas.openxmlformats.org/officeDocument/2006/relationships/slide" Target="/ppt/slides/slide10.xml" Id="Rb72961a1e28d415b" /><Relationship Type="http://schemas.openxmlformats.org/officeDocument/2006/relationships/slide" Target="/ppt/slides/slide11.xml" Id="R55c07d68c47e4662" /><Relationship Type="http://schemas.openxmlformats.org/officeDocument/2006/relationships/slide" Target="/ppt/slides/slide12.xml" Id="R077d73936d8844a4" /><Relationship Type="http://schemas.openxmlformats.org/officeDocument/2006/relationships/slide" Target="/ppt/slides/slide13.xml" Id="R2e5755505ec349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67337c91b9b45af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7b33aaef3844379" /><Relationship Type="http://schemas.openxmlformats.org/officeDocument/2006/relationships/slide" Target="/ppt/slides/slide1.xml" Id="Ra180a9dc71c849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a2a78c8553f4237" /><Relationship Type="http://schemas.openxmlformats.org/officeDocument/2006/relationships/slide" Target="/ppt/slides/slide2.xml" Id="Rc7d27f7fb95942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c915a9cc64a4324" /><Relationship Type="http://schemas.openxmlformats.org/officeDocument/2006/relationships/slide" Target="/ppt/slides/slide3.xml" Id="R8a2ca311eca34c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a49a302dee14cb8" /><Relationship Type="http://schemas.openxmlformats.org/officeDocument/2006/relationships/slide" Target="/ppt/slides/slide4.xml" Id="Ra5404f0aff3d44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4656567631f4dc2" /><Relationship Type="http://schemas.openxmlformats.org/officeDocument/2006/relationships/slide" Target="/ppt/slides/slide5.xml" Id="R29bc5636a94b42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b65122fed554306" /><Relationship Type="http://schemas.openxmlformats.org/officeDocument/2006/relationships/slide" Target="/ppt/slides/slide6.xml" Id="Ra7777e6124364e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49bd6e2d6284290" /><Relationship Type="http://schemas.openxmlformats.org/officeDocument/2006/relationships/slide" Target="/ppt/slides/slide7.xml" Id="R7696e8f893fc43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94cbd9cb1624bd9" /><Relationship Type="http://schemas.openxmlformats.org/officeDocument/2006/relationships/slide" Target="/ppt/slides/slide8.xml" Id="Rd27b737158f14e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6e869a65d8940dc" /><Relationship Type="http://schemas.openxmlformats.org/officeDocument/2006/relationships/slide" Target="/ppt/slides/slide9.xml" Id="R9890da60393041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46beab9823f4c07" /><Relationship Type="http://schemas.openxmlformats.org/officeDocument/2006/relationships/slide" Target="/ppt/slides/slide10.xml" Id="R8b346b491c794b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4cfface00894f7b" /><Relationship Type="http://schemas.openxmlformats.org/officeDocument/2006/relationships/slide" Target="/ppt/slides/slide11.xml" Id="R4eb961589ba84a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d04753daf754afe" /><Relationship Type="http://schemas.openxmlformats.org/officeDocument/2006/relationships/slide" Target="/ppt/slides/slide12.xml" Id="R865a5908a27e4b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22f841a6c4f41be" /><Relationship Type="http://schemas.openxmlformats.org/officeDocument/2006/relationships/slide" Target="/ppt/slides/slide13.xml" Id="Rfb0ed63fb63842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Project: Sales Analysis using Python, Pandas, Plotly and Streamlit. Dataset contains 1,000 real sales transactions across 14 features.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Seven core objectives aligned to the brief. Each objective maps to a dedicated tab in the Streamlit dashboard.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audit module runs before cleaning and captures null counts, duplicates, bad dates, negative values and out-of-range discounts. All checks passed on this dataset.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KPIs computed after cleaning. Profit is derived from (Unit_Price - Unit_Cost) * Quantity_Sold. All figures are based on the full 1,000-row clean dataset.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Monthly trend analysis shows clear seasonality. Q4 is the strongest quarter. The dual-axis chart in the dashboard shows both revenue bars and order count line together.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Segment analysis covers region, category, sales rep, channel and customer type. West is the top region. Furniture is the top category. Eve is the top sales rep.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Correlation analysis using scipy.stats.pearsonr. Unit_Cost vs Unit_Price is the strongest relationship (r=0.991). Discount has negligible impact on revenue.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All charts built with Plotly Express. OLS trendlines use statsmodels via plotly trendline='ols'. Heatmaps use density_heatmap and imshow.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Insights are auto-generated by the generate_insights() function in analysis.py. Each insight maps to a business action covered on the next slide.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Seven data-driven recommendations derived directly from the analysis. Each links back to a specific metric or chart in the dashboard.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Final slide. The command shown runs the full dashboard locally. All source files are in the sales_analysis/ folder. Dataset must remain at sales_data.csv in the workspace root.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Dataset has 14 columns covering product, time, rep, region, pricing, customer, channel and payment dimensions. 1000 clean rows used for all analysis.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Five-stage pipeline: Load → Audit → Clean → Analyse → Visualise. All code is modular — data_loader.py and analysis.py are independent of the UI and can be reused in other contexts.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611a6c8864b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1303955a34d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b92e58a8e44f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b52784fcb045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0b8c0bdc4431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c50abf6e3ab4dc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df234cf174ba9" /><Relationship Type="http://schemas.openxmlformats.org/officeDocument/2006/relationships/notesSlide" Target="/ppt/notesSlides/notesSlide1.xml" Id="Rdf06011899f940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33e211772455f" /><Relationship Type="http://schemas.openxmlformats.org/officeDocument/2006/relationships/notesSlide" Target="/ppt/notesSlides/notesSlide2.xml" Id="R22f3b9a487234e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d981051844bf3" /><Relationship Type="http://schemas.openxmlformats.org/officeDocument/2006/relationships/notesSlide" Target="/ppt/notesSlides/notesSlide3.xml" Id="R71ae31e4253045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2ee37ae6f439f" /><Relationship Type="http://schemas.openxmlformats.org/officeDocument/2006/relationships/notesSlide" Target="/ppt/notesSlides/notesSlide4.xml" Id="R1868822e1aaf48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5cf782a4b45f1" /><Relationship Type="http://schemas.openxmlformats.org/officeDocument/2006/relationships/notesSlide" Target="/ppt/notesSlides/notesSlide5.xml" Id="R460da05afdf843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8833b72d94a58" /><Relationship Type="http://schemas.openxmlformats.org/officeDocument/2006/relationships/notesSlide" Target="/ppt/notesSlides/notesSlide6.xml" Id="Rf886a5d9d54b41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a78e2a503416d" /><Relationship Type="http://schemas.openxmlformats.org/officeDocument/2006/relationships/notesSlide" Target="/ppt/notesSlides/notesSlide7.xml" Id="Re8d00b21dbbf41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ea1b4cc354d01" /><Relationship Type="http://schemas.openxmlformats.org/officeDocument/2006/relationships/notesSlide" Target="/ppt/notesSlides/notesSlide8.xml" Id="R4147913d94f04f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8b41671714882" /><Relationship Type="http://schemas.openxmlformats.org/officeDocument/2006/relationships/notesSlide" Target="/ppt/notesSlides/notesSlide9.xml" Id="R4acb907e7f8c4a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9760460444a14" /><Relationship Type="http://schemas.openxmlformats.org/officeDocument/2006/relationships/notesSlide" Target="/ppt/notesSlides/notesSlide10.xml" Id="Rb9488976c14349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92efb080d42f0" /><Relationship Type="http://schemas.openxmlformats.org/officeDocument/2006/relationships/notesSlide" Target="/ppt/notesSlides/notesSlide11.xml" Id="R939ee0aaa5e04a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3dcfaf2a94bb6" /><Relationship Type="http://schemas.openxmlformats.org/officeDocument/2006/relationships/notesSlide" Target="/ppt/notesSlides/notesSlide12.xml" Id="R2413eada06c54e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bc67fb03b428c" /><Relationship Type="http://schemas.openxmlformats.org/officeDocument/2006/relationships/notesSlide" Target="/ppt/notesSlides/notesSlide13.xml" Id="Rff4bb7fe1c2b40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3557"/>
        </a:solidFill>
      </p:bgPr>
    </p:bg>
    <p:spTree>
      <p:nvGrpSpPr>
        <p:cNvPr id="1" name=""/>
        <p:cNvGrpSpPr/>
        <p:nvPr/>
      </p:nvGrpSpPr>
      <p:grpSpPr/>
      <p:sp>
        <p:nvSpPr>
          <p:cNvPr id="100000" name="Tag"/>
          <p:cNvSpPr txBox="1"/>
          <p:nvPr/>
        </p:nvSpPr>
        <p:spPr>
          <a:xfrm xmlns:a="http://schemas.openxmlformats.org/drawingml/2006/main">
            <a:off x="720000" y="1620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7EC8E3"/>
                </a:solidFill>
              </a:rPr>
              <a:t>DATA ANALYTICS PROJECT</a:t>
            </a: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720000" y="2088000"/>
            <a:ext cx="1044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Sales Analysis Dashboard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720000" y="3384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0">
                <a:solidFill>
                  <a:srgbClr val="B0C8E8"/>
                </a:solidFill>
              </a:rPr>
              <a:t>End-to-End Python &amp; Streamlit Project</a:t>
            </a:r>
          </a:p>
        </p:txBody>
      </p:sp>
      <p:sp>
        <p:nvSpPr>
          <p:cNvPr id="100003" name="Meta"/>
          <p:cNvSpPr txBox="1"/>
          <p:nvPr/>
        </p:nvSpPr>
        <p:spPr>
          <a:xfrm xmlns:a="http://schemas.openxmlformats.org/drawingml/2006/main">
            <a:off x="720000" y="3960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7EC8E3"/>
                </a:solidFill>
              </a:rPr>
              <a:t>Dataset: sales_data.csv  ·  1,000 Transactions  ·  14 Features  ·  2023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4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100005" name="SlideTitle"/>
          <p:cNvSpPr txBox="1"/>
          <p:nvPr/>
        </p:nvSpPr>
        <p:spPr>
          <a:xfrm xmlns:a="http://schemas.openxmlformats.org/drawingml/2006/main">
            <a:off x="540000" y="72000"/>
            <a:ext cx="10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100006" name="Body"/>
          <p:cNvSpPr txBox="1"/>
          <p:nvPr/>
        </p:nvSpPr>
        <p:spPr>
          <a:xfrm xmlns:a="http://schemas.openxmlformats.org/drawingml/2006/main">
            <a:off x="720000" y="720000"/>
            <a:ext cx="10440000" cy="50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A3557"/>
                </a:solidFill>
              </a:rPr>
              <a:t>1.  Collect &amp; load the sales CSV dataset into a structured DataFrame</a:t>
            </a:r>
          </a:p>
          <a:p xmlns:a="http://schemas.openxmlformats.org/drawingml/2006/main">
            <a:r>
              <a:rPr lang="en-US" sz="18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A3557"/>
                </a:solidFill>
              </a:rPr>
              <a:t>2.  Audit the data for missing values, nulls, duplicates, bad formats and incorrect entries</a:t>
            </a:r>
          </a:p>
          <a:p xmlns:a="http://schemas.openxmlformats.org/drawingml/2006/main">
            <a:r>
              <a:rPr lang="en-US" sz="18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A3557"/>
                </a:solidFill>
              </a:rPr>
              <a:t>3.  Calculate key sales metrics: revenue, profit, margin and order value</a:t>
            </a:r>
          </a:p>
          <a:p xmlns:a="http://schemas.openxmlformats.org/drawingml/2006/main">
            <a:r>
              <a:rPr lang="en-US" sz="18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A3557"/>
                </a:solidFill>
              </a:rPr>
              <a:t>4.  Compare relationships between features using correlation and scatter analysis</a:t>
            </a:r>
          </a:p>
          <a:p xmlns:a="http://schemas.openxmlformats.org/drawingml/2006/main">
            <a:r>
              <a:rPr lang="en-US" sz="18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A3557"/>
                </a:solidFill>
              </a:rPr>
              <a:t>5.  Group and summarise data by region, category, sales rep, channel and customer type</a:t>
            </a:r>
          </a:p>
          <a:p xmlns:a="http://schemas.openxmlformats.org/drawingml/2006/main">
            <a:r>
              <a:rPr lang="en-US" sz="18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A3557"/>
                </a:solidFill>
              </a:rPr>
              <a:t>6.  Build interactive charts to visualise all findings</a:t>
            </a:r>
          </a:p>
          <a:p xmlns:a="http://schemas.openxmlformats.org/drawingml/2006/main">
            <a:r>
              <a:rPr lang="en-US" sz="18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1A3557"/>
                </a:solidFill>
              </a:rPr>
              <a:t>7.  Use results to generate actionable business decisions and recommendations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7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100008" name="SlideTitle"/>
          <p:cNvSpPr txBox="1"/>
          <p:nvPr/>
        </p:nvSpPr>
        <p:spPr>
          <a:xfrm xmlns:a="http://schemas.openxmlformats.org/drawingml/2006/main">
            <a:off x="540000" y="72000"/>
            <a:ext cx="10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Data Cleaning &amp; Quality Audit</a:t>
            </a:r>
          </a:p>
        </p:txBody>
      </p:sp>
      <p:sp>
        <p:nvSpPr>
          <p:cNvPr id="100009" name="ResultBox"/>
          <p:cNvSpPr txBox="1"/>
          <p:nvPr/>
        </p:nvSpPr>
        <p:spPr>
          <a:xfrm xmlns:a="http://schemas.openxmlformats.org/drawingml/2006/main">
            <a:off x="540000" y="720000"/>
            <a:ext cx="3600000" cy="43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DD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55724"/>
                </a:solidFill>
              </a:rPr>
              <a:t>AUDIT RESULT</a:t>
            </a:r>
          </a:p>
          <a:p xmlns:a="http://schemas.openxmlformats.org/drawingml/2006/main">
            <a:r>
              <a:rPr lang="en-US" sz="1600" b="0">
                <a:solidFill>
                  <a:srgbClr val="155724"/>
                </a:solidFill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55724"/>
                </a:solidFill>
              </a:rPr>
              <a:t>✔  Null values:           0</a:t>
            </a:r>
          </a:p>
          <a:p xmlns:a="http://schemas.openxmlformats.org/drawingml/2006/main">
            <a:r>
              <a:rPr lang="en-US" sz="1600" b="0">
                <a:solidFill>
                  <a:srgbClr val="155724"/>
                </a:solidFill>
              </a:rPr>
              <a:t>✔  Duplicate rows:      0</a:t>
            </a:r>
          </a:p>
          <a:p xmlns:a="http://schemas.openxmlformats.org/drawingml/2006/main">
            <a:r>
              <a:rPr lang="en-US" sz="1600" b="0">
                <a:solidFill>
                  <a:srgbClr val="155724"/>
                </a:solidFill>
              </a:rPr>
              <a:t>✔  Bad dates:              0</a:t>
            </a:r>
          </a:p>
          <a:p xmlns:a="http://schemas.openxmlformats.org/drawingml/2006/main">
            <a:r>
              <a:rPr lang="en-US" sz="1600" b="0">
                <a:solidFill>
                  <a:srgbClr val="155724"/>
                </a:solidFill>
              </a:rPr>
              <a:t>✔  Negative sales:       0</a:t>
            </a:r>
          </a:p>
          <a:p xmlns:a="http://schemas.openxmlformats.org/drawingml/2006/main">
            <a:r>
              <a:rPr lang="en-US" sz="1600" b="0">
                <a:solidFill>
                  <a:srgbClr val="155724"/>
                </a:solidFill>
              </a:rPr>
              <a:t>✔  Bad discounts:        0</a:t>
            </a:r>
          </a:p>
          <a:p xmlns:a="http://schemas.openxmlformats.org/drawingml/2006/main">
            <a:r>
              <a:rPr lang="en-US" sz="1600" b="0">
                <a:solidFill>
                  <a:srgbClr val="155724"/>
                </a:solidFill>
              </a:rPr>
              <a:t>✔  Missing columns:    0</a:t>
            </a:r>
          </a:p>
          <a:p xmlns:a="http://schemas.openxmlformats.org/drawingml/2006/main">
            <a:r>
              <a:rPr lang="en-US" sz="1600" b="0">
                <a:solidFill>
                  <a:srgbClr val="155724"/>
                </a:solidFill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55724"/>
                </a:solidFill>
              </a:rPr>
              <a:t>Dataset is 100% clean</a:t>
            </a:r>
          </a:p>
        </p:txBody>
      </p:sp>
      <p:sp>
        <p:nvSpPr>
          <p:cNvPr id="100010" name="Steps"/>
          <p:cNvSpPr txBox="1"/>
          <p:nvPr/>
        </p:nvSpPr>
        <p:spPr>
          <a:xfrm xmlns:a="http://schemas.openxmlformats.org/drawingml/2006/main">
            <a:off x="4680000" y="720000"/>
            <a:ext cx="7020000" cy="50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CLEANING PIPELINE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Step 1   Strip whitespace from all text columns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Step 2   Parse Sale_Date as proper datetime objects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Step 3   Coerce numeric columns to float (Sales_Amount,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           Quantity_Sold, Unit_Cost, Unit_Price, Discount)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Step 4   Drop fully duplicate rows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Step 5   Remove rows with null or non-positive Sales_Amount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           or Quantity_Sold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Step 6   Clip Discount values to valid range [0.0 – 1.0]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Step 7   Fill remaining categorical nulls with 'Unknown'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Step 8   Derive new columns: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           Profit = (Unit_Price – Unit_Cost) × Quantity_Sold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           Profit_Margin = (Unit_Price – Unit_Cost) / Unit_Price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           Month, Quarter, Month_Num (for trend analysis)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1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100012" name="SlideTitle"/>
          <p:cNvSpPr txBox="1"/>
          <p:nvPr/>
        </p:nvSpPr>
        <p:spPr>
          <a:xfrm xmlns:a="http://schemas.openxmlformats.org/drawingml/2006/main">
            <a:off x="540000" y="72000"/>
            <a:ext cx="10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Key Performance Indicators</a:t>
            </a:r>
          </a:p>
        </p:txBody>
      </p:sp>
      <p:sp>
        <p:nvSpPr>
          <p:cNvPr id="100013" name="KPI1"/>
          <p:cNvSpPr txBox="1"/>
          <p:nvPr/>
        </p:nvSpPr>
        <p:spPr>
          <a:xfrm xmlns:a="http://schemas.openxmlformats.org/drawingml/2006/main">
            <a:off x="540000" y="792000"/>
            <a:ext cx="2592000" cy="13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</a:rPr>
              <a:t>$5,019,265</a:t>
            </a:r>
          </a:p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</a:rPr>
              <a:t>Total Revenue</a:t>
            </a:r>
          </a:p>
        </p:txBody>
      </p:sp>
      <p:sp>
        <p:nvSpPr>
          <p:cNvPr id="100014" name="KPI2"/>
          <p:cNvSpPr txBox="1"/>
          <p:nvPr/>
        </p:nvSpPr>
        <p:spPr>
          <a:xfrm xmlns:a="http://schemas.openxmlformats.org/drawingml/2006/main">
            <a:off x="3348000" y="792000"/>
            <a:ext cx="2592000" cy="13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DA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</a:rPr>
              <a:t>1,000</a:t>
            </a:r>
          </a:p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</a:rPr>
              <a:t>Total Orders</a:t>
            </a:r>
          </a:p>
        </p:txBody>
      </p:sp>
      <p:sp>
        <p:nvSpPr>
          <p:cNvPr id="100015" name="KPI3"/>
          <p:cNvSpPr txBox="1"/>
          <p:nvPr/>
        </p:nvSpPr>
        <p:spPr>
          <a:xfrm xmlns:a="http://schemas.openxmlformats.org/drawingml/2006/main">
            <a:off x="6156000" y="792000"/>
            <a:ext cx="2592000" cy="13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6C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</a:rPr>
              <a:t>25,355</a:t>
            </a:r>
          </a:p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</a:rPr>
              <a:t>Units Sold</a:t>
            </a:r>
          </a:p>
        </p:txBody>
      </p:sp>
      <p:sp>
        <p:nvSpPr>
          <p:cNvPr id="100016" name="KPI4"/>
          <p:cNvSpPr txBox="1"/>
          <p:nvPr/>
        </p:nvSpPr>
        <p:spPr>
          <a:xfrm xmlns:a="http://schemas.openxmlformats.org/drawingml/2006/main">
            <a:off x="8964000" y="792000"/>
            <a:ext cx="2700000" cy="13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C3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</a:rPr>
              <a:t>$5,019</a:t>
            </a:r>
          </a:p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</a:rPr>
              <a:t>Avg Order Value</a:t>
            </a:r>
          </a:p>
        </p:txBody>
      </p:sp>
      <p:sp>
        <p:nvSpPr>
          <p:cNvPr id="100017" name="KPI5"/>
          <p:cNvSpPr txBox="1"/>
          <p:nvPr/>
        </p:nvSpPr>
        <p:spPr>
          <a:xfrm xmlns:a="http://schemas.openxmlformats.org/drawingml/2006/main">
            <a:off x="540000" y="2448000"/>
            <a:ext cx="2592000" cy="13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4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</a:rPr>
              <a:t>$6,487,847</a:t>
            </a:r>
          </a:p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</a:rPr>
              <a:t>Total Profit</a:t>
            </a:r>
          </a:p>
        </p:txBody>
      </p:sp>
      <p:sp>
        <p:nvSpPr>
          <p:cNvPr id="100018" name="KPI6"/>
          <p:cNvSpPr txBox="1"/>
          <p:nvPr/>
        </p:nvSpPr>
        <p:spPr>
          <a:xfrm xmlns:a="http://schemas.openxmlformats.org/drawingml/2006/main">
            <a:off x="3348000" y="2448000"/>
            <a:ext cx="2592000" cy="13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F9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</a:rPr>
              <a:t>14.28%</a:t>
            </a:r>
          </a:p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</a:rPr>
              <a:t>Avg Profit Margin</a:t>
            </a:r>
          </a:p>
        </p:txBody>
      </p:sp>
      <p:sp>
        <p:nvSpPr>
          <p:cNvPr id="100019" name="KPI7"/>
          <p:cNvSpPr txBox="1"/>
          <p:nvPr/>
        </p:nvSpPr>
        <p:spPr>
          <a:xfrm xmlns:a="http://schemas.openxmlformats.org/drawingml/2006/main">
            <a:off x="6156000" y="2448000"/>
            <a:ext cx="2592000" cy="13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2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</a:rPr>
              <a:t>15.24%</a:t>
            </a:r>
          </a:p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</a:rPr>
              <a:t>Avg Discount Rate</a:t>
            </a:r>
          </a:p>
        </p:txBody>
      </p:sp>
      <p:sp>
        <p:nvSpPr>
          <p:cNvPr id="100020" name="KPI8"/>
          <p:cNvSpPr txBox="1"/>
          <p:nvPr/>
        </p:nvSpPr>
        <p:spPr>
          <a:xfrm xmlns:a="http://schemas.openxmlformats.org/drawingml/2006/main">
            <a:off x="8964000" y="2448000"/>
            <a:ext cx="2700000" cy="13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8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</a:rPr>
              <a:t>12 Months</a:t>
            </a:r>
          </a:p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</a:rPr>
              <a:t>Data Coverage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1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100022" name="SlideTitle"/>
          <p:cNvSpPr txBox="1"/>
          <p:nvPr/>
        </p:nvSpPr>
        <p:spPr>
          <a:xfrm xmlns:a="http://schemas.openxmlformats.org/drawingml/2006/main">
            <a:off x="540000" y="72000"/>
            <a:ext cx="10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Sales Trends Over Time</a:t>
            </a:r>
          </a:p>
        </p:txBody>
      </p:sp>
      <p:sp>
        <p:nvSpPr>
          <p:cNvPr id="100023" name="ChartLabel"/>
          <p:cNvSpPr txBox="1"/>
          <p:nvPr/>
        </p:nvSpPr>
        <p:spPr>
          <a:xfrm xmlns:a="http://schemas.openxmlformats.org/drawingml/2006/main">
            <a:off x="540000" y="720000"/>
            <a:ext cx="108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A3557"/>
                </a:solidFill>
              </a:rPr>
              <a:t>Monthly Revenue &amp; Order Volume (Jan – Dec 2023)</a:t>
            </a:r>
          </a:p>
        </p:txBody>
      </p:sp>
      <p:sp>
        <p:nvSpPr>
          <p:cNvPr id="100024" name="ChartPlaceholder"/>
          <p:cNvSpPr txBox="1"/>
          <p:nvPr/>
        </p:nvSpPr>
        <p:spPr>
          <a:xfrm xmlns:a="http://schemas.openxmlformats.org/drawingml/2006/main">
            <a:off x="540000" y="1080000"/>
            <a:ext cx="1080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>📊  Bar chart: Monthly revenue bars (blue) overlaid with order count line (orange)</a:t>
            </a:r>
          </a:p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>Key observations:</a:t>
            </a:r>
          </a:p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>  •  Revenue peaks in Q4 (Oct – Dec) driven by seasonal demand</a:t>
            </a:r>
          </a:p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>  •  Q1 starts strong in January, dips in February</a:t>
            </a:r>
          </a:p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>  •  Average monthly revenue ≈ $418,272</a:t>
            </a:r>
          </a:p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>  •  Order volume closely tracks revenue — no single large outlier distorts the trend</a:t>
            </a:r>
          </a:p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>  •  December records the highest single-month revenue</a:t>
            </a:r>
          </a:p>
        </p:txBody>
      </p:sp>
      <p:sp>
        <p:nvSpPr>
          <p:cNvPr id="100025" name="QuarterBox"/>
          <p:cNvSpPr txBox="1"/>
          <p:nvPr/>
        </p:nvSpPr>
        <p:spPr>
          <a:xfrm xmlns:a="http://schemas.openxmlformats.org/drawingml/2006/main">
            <a:off x="540000" y="4032000"/>
            <a:ext cx="25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Q1  JAN – MAR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Revenue tracks seasonal ramp-up. Electronics leads.</a:t>
            </a:r>
          </a:p>
        </p:txBody>
      </p:sp>
      <p:sp>
        <p:nvSpPr>
          <p:cNvPr id="100026" name="Q2Box"/>
          <p:cNvSpPr txBox="1"/>
          <p:nvPr/>
        </p:nvSpPr>
        <p:spPr>
          <a:xfrm xmlns:a="http://schemas.openxmlformats.org/drawingml/2006/main">
            <a:off x="3348000" y="4032000"/>
            <a:ext cx="25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DA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Q2  APR – JUN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Steady growth. Online channel surges in May.</a:t>
            </a:r>
          </a:p>
        </p:txBody>
      </p:sp>
      <p:sp>
        <p:nvSpPr>
          <p:cNvPr id="100027" name="Q3Box"/>
          <p:cNvSpPr txBox="1"/>
          <p:nvPr/>
        </p:nvSpPr>
        <p:spPr>
          <a:xfrm xmlns:a="http://schemas.openxmlformats.org/drawingml/2006/main">
            <a:off x="6156000" y="4032000"/>
            <a:ext cx="25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6C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Q3  JUL – SEP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Peak units sold. Food &amp; Clothing categories spike.</a:t>
            </a:r>
          </a:p>
        </p:txBody>
      </p:sp>
      <p:sp>
        <p:nvSpPr>
          <p:cNvPr id="100028" name="Q4Box"/>
          <p:cNvSpPr txBox="1"/>
          <p:nvPr/>
        </p:nvSpPr>
        <p:spPr>
          <a:xfrm xmlns:a="http://schemas.openxmlformats.org/drawingml/2006/main">
            <a:off x="8964000" y="4032000"/>
            <a:ext cx="27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C3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Q4  OCT – DEC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Highest revenue quarter. Furniture dominates.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9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100030" name="SlideTitle"/>
          <p:cNvSpPr txBox="1"/>
          <p:nvPr/>
        </p:nvSpPr>
        <p:spPr>
          <a:xfrm xmlns:a="http://schemas.openxmlformats.org/drawingml/2006/main">
            <a:off x="540000" y="72000"/>
            <a:ext cx="10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Segment Analysis — Revenue by Group</a:t>
            </a:r>
          </a:p>
        </p:txBody>
      </p:sp>
      <p:sp>
        <p:nvSpPr>
          <p:cNvPr id="100031" name="RegionBox"/>
          <p:cNvSpPr txBox="1"/>
          <p:nvPr/>
        </p:nvSpPr>
        <p:spPr>
          <a:xfrm xmlns:a="http://schemas.openxmlformats.org/drawingml/2006/main">
            <a:off x="540000" y="720000"/>
            <a:ext cx="2700000" cy="3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BY REGION</a:t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🥇  West      $1,345,021</a:t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       25 orders avg</a:t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🥈  South    $1,289,564</a:t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🥉  North    $1,214,477</a:t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4th  East       $1,170,203</a:t>
            </a:r>
          </a:p>
        </p:txBody>
      </p:sp>
      <p:sp>
        <p:nvSpPr>
          <p:cNvPr id="100032" name="CategoryBox"/>
          <p:cNvSpPr txBox="1"/>
          <p:nvPr/>
        </p:nvSpPr>
        <p:spPr>
          <a:xfrm xmlns:a="http://schemas.openxmlformats.org/drawingml/2006/main">
            <a:off x="3528000" y="720000"/>
            <a:ext cx="2700000" cy="3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BY CATEGORY</a:t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🥇  Furniture      Largest share</a:t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       High avg ticket</a:t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🥈  Electronics  Premium pricing</a:t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🥉  Food              High volume</a:t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4th  Clothing       Highest discount</a:t>
            </a:r>
          </a:p>
        </p:txBody>
      </p:sp>
      <p:sp>
        <p:nvSpPr>
          <p:cNvPr id="100033" name="RepBox"/>
          <p:cNvSpPr txBox="1"/>
          <p:nvPr/>
        </p:nvSpPr>
        <p:spPr>
          <a:xfrm xmlns:a="http://schemas.openxmlformats.org/drawingml/2006/main">
            <a:off x="6516000" y="720000"/>
            <a:ext cx="2520000" cy="3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BY SALES REP</a:t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🥇  Eve</a:t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       Highest individual revenue</a:t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🥈  Alice</a:t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🥉  Charlie</a:t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4th  David</a:t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A3557"/>
                </a:solidFill>
              </a:rPr>
              <a:t>5th  Bob</a:t>
            </a:r>
          </a:p>
        </p:txBody>
      </p:sp>
      <p:sp>
        <p:nvSpPr>
          <p:cNvPr id="100034" name="ChannelBox"/>
          <p:cNvSpPr txBox="1"/>
          <p:nvPr/>
        </p:nvSpPr>
        <p:spPr>
          <a:xfrm xmlns:a="http://schemas.openxmlformats.org/drawingml/2006/main">
            <a:off x="9288000" y="720000"/>
            <a:ext cx="2340000" cy="3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BY CHANNEL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Online      vs      Retail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Near-equal split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Online  — higher AOV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Retail    — more orders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BY CUSTOMER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New  vs  Returning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Comparable revenue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New customers slightly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outpace returning ones</a:t>
            </a:r>
          </a:p>
        </p:txBody>
      </p:sp>
      <p:sp>
        <p:nvSpPr>
          <p:cNvPr id="100035" name="Footer"/>
          <p:cNvSpPr txBox="1"/>
          <p:nvPr/>
        </p:nvSpPr>
        <p:spPr>
          <a:xfrm xmlns:a="http://schemas.openxmlformats.org/drawingml/2006/main">
            <a:off x="540000" y="4320000"/>
            <a:ext cx="108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55555"/>
                </a:solidFill>
              </a:rPr>
              <a:t>Full leaderboard tables, heatmaps and drill-down charts available in the Streamlit dashboard → Segment Analysis tab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6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100037" name="SlideTitle"/>
          <p:cNvSpPr txBox="1"/>
          <p:nvPr/>
        </p:nvSpPr>
        <p:spPr>
          <a:xfrm xmlns:a="http://schemas.openxmlformats.org/drawingml/2006/main">
            <a:off x="540000" y="72000"/>
            <a:ext cx="10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Feature Relationships &amp; Correlation Analysis</a:t>
            </a:r>
          </a:p>
        </p:txBody>
      </p:sp>
      <p:sp>
        <p:nvSpPr>
          <p:cNvPr id="100038" name="CorrHeader"/>
          <p:cNvSpPr txBox="1"/>
          <p:nvPr/>
        </p:nvSpPr>
        <p:spPr>
          <a:xfrm xmlns:a="http://schemas.openxmlformats.org/drawingml/2006/main">
            <a:off x="540000" y="720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A3557"/>
                </a:solidFill>
              </a:rPr>
              <a:t>Pearson Correlation Matrix (key numeric features)</a:t>
            </a:r>
          </a:p>
        </p:txBody>
      </p:sp>
      <p:sp>
        <p:nvSpPr>
          <p:cNvPr id="100039" name="CorrTable"/>
          <p:cNvSpPr txBox="1"/>
          <p:nvPr/>
        </p:nvSpPr>
        <p:spPr>
          <a:xfrm xmlns:a="http://schemas.openxmlformats.org/drawingml/2006/main">
            <a:off x="540000" y="1080000"/>
            <a:ext cx="108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3557"/>
                </a:solidFill>
              </a:rPr>
              <a:t>                    Sales_Amount   Qty_Sold   Unit_Cost   Unit_Price   Discount</a:t>
            </a:r>
          </a:p>
          <a:p xmlns:a="http://schemas.openxmlformats.org/drawingml/2006/main">
            <a:r>
              <a:rPr lang="en-US" sz="1300">
                <a:solidFill>
                  <a:srgbClr val="1A3557"/>
                </a:solidFill>
              </a:rPr>
              <a:t>Sales_Amount          1.000            0.062        0.088          0.091          -0.018</a:t>
            </a:r>
          </a:p>
          <a:p xmlns:a="http://schemas.openxmlformats.org/drawingml/2006/main">
            <a:r>
              <a:rPr lang="en-US" sz="1300">
                <a:solidFill>
                  <a:srgbClr val="1A3557"/>
                </a:solidFill>
              </a:rPr>
              <a:t>Qty_Sold                  0.062            1.000       -0.023         -0.019          0.001</a:t>
            </a:r>
          </a:p>
          <a:p xmlns:a="http://schemas.openxmlformats.org/drawingml/2006/main">
            <a:r>
              <a:rPr lang="en-US" sz="1300">
                <a:solidFill>
                  <a:srgbClr val="1A3557"/>
                </a:solidFill>
              </a:rPr>
              <a:t>Unit_Cost                 0.088          -0.023        1.000          0.991          -0.009</a:t>
            </a:r>
          </a:p>
          <a:p xmlns:a="http://schemas.openxmlformats.org/drawingml/2006/main">
            <a:r>
              <a:rPr lang="en-US" sz="1300">
                <a:solidFill>
                  <a:srgbClr val="1A3557"/>
                </a:solidFill>
              </a:rPr>
              <a:t>Unit_Price                0.091          -0.019        0.991          1.000          -0.005</a:t>
            </a:r>
          </a:p>
          <a:p xmlns:a="http://schemas.openxmlformats.org/drawingml/2006/main">
            <a:r>
              <a:rPr lang="en-US" sz="1300">
                <a:solidFill>
                  <a:srgbClr val="1A3557"/>
                </a:solidFill>
              </a:rPr>
              <a:t>Discount                  -0.018           0.001       -0.009         -0.005          1.000</a:t>
            </a:r>
          </a:p>
        </p:txBody>
      </p:sp>
      <p:sp>
        <p:nvSpPr>
          <p:cNvPr id="100040" name="FindingDisc"/>
          <p:cNvSpPr txBox="1"/>
          <p:nvPr/>
        </p:nvSpPr>
        <p:spPr>
          <a:xfrm xmlns:a="http://schemas.openxmlformats.org/drawingml/2006/main">
            <a:off x="540000" y="2880000"/>
            <a:ext cx="342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DISCOUNT vs REVENUE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Pearson r ≈ –0.018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p-value &gt; 0.05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Interpretation: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Very weak negative correlation.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Discounting is not a reliable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predictor of higher revenue.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Review discount strategy.</a:t>
            </a:r>
          </a:p>
        </p:txBody>
      </p:sp>
      <p:sp>
        <p:nvSpPr>
          <p:cNvPr id="100041" name="FindingQty"/>
          <p:cNvSpPr txBox="1"/>
          <p:nvPr/>
        </p:nvSpPr>
        <p:spPr>
          <a:xfrm xmlns:a="http://schemas.openxmlformats.org/drawingml/2006/main">
            <a:off x="4320000" y="2880000"/>
            <a:ext cx="342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DD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QUANTITY vs REVENUE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Pearson r ≈ 0.062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p-value &gt; 0.05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Interpretation: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Weak positive correlation.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Volume alone does not drive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revenue — unit price matters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more than quantity.</a:t>
            </a:r>
          </a:p>
        </p:txBody>
      </p:sp>
      <p:sp>
        <p:nvSpPr>
          <p:cNvPr id="100042" name="FindingPrice"/>
          <p:cNvSpPr txBox="1"/>
          <p:nvPr/>
        </p:nvSpPr>
        <p:spPr>
          <a:xfrm xmlns:a="http://schemas.openxmlformats.org/drawingml/2006/main">
            <a:off x="8100000" y="2880000"/>
            <a:ext cx="342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C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UNIT COST vs UNIT PRICE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Pearson r ≈ 0.991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p-value &lt; 0.001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Interpretation: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Very strong positive correlation.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Pricing closely follows cost.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Opportunity to widen margin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for premium categories.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3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100044" name="SlideTitle"/>
          <p:cNvSpPr txBox="1"/>
          <p:nvPr/>
        </p:nvSpPr>
        <p:spPr>
          <a:xfrm xmlns:a="http://schemas.openxmlformats.org/drawingml/2006/main">
            <a:off x="540000" y="72000"/>
            <a:ext cx="10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Visualisations Used in the Dashboard</a:t>
            </a:r>
          </a:p>
        </p:txBody>
      </p:sp>
      <p:sp>
        <p:nvSpPr>
          <p:cNvPr id="100045" name="Col1"/>
          <p:cNvSpPr txBox="1"/>
          <p:nvPr/>
        </p:nvSpPr>
        <p:spPr>
          <a:xfrm xmlns:a="http://schemas.openxmlformats.org/drawingml/2006/main">
            <a:off x="540000" y="720000"/>
            <a:ext cx="342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OVERVIEW TAB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Bar chart — Revenue by Region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Donut pie — Revenue share by Category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Area chart — Monthly Revenue trend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DATA QUALITY TAB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Bar chart — Null values per column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Bar chart — Issue type counts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Stat table — Descriptive statistics</a:t>
            </a:r>
          </a:p>
        </p:txBody>
      </p:sp>
      <p:sp>
        <p:nvSpPr>
          <p:cNvPr id="100046" name="Col2"/>
          <p:cNvSpPr txBox="1"/>
          <p:nvPr/>
        </p:nvSpPr>
        <p:spPr>
          <a:xfrm xmlns:a="http://schemas.openxmlformats.org/drawingml/2006/main">
            <a:off x="4320000" y="720000"/>
            <a:ext cx="342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TRENDS TAB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Dual-axis chart — Revenue + Orders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Bar chart — Quarterly revenue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Line chart — Avg order value / month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Stacked area — Revenue by Category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Multi-line — Revenue by Region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SEGMENT TAB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Bar chart — Sales rep leaderboard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Pie — Payment method split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Pie — Customer type split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Grouped bar — Channel comparison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Heatmap — Region × Category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Bar — Top 10 products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Box plot — Discount distribution</a:t>
            </a:r>
          </a:p>
        </p:txBody>
      </p:sp>
      <p:sp>
        <p:nvSpPr>
          <p:cNvPr id="100047" name="Col3"/>
          <p:cNvSpPr txBox="1"/>
          <p:nvPr/>
        </p:nvSpPr>
        <p:spPr>
          <a:xfrm xmlns:a="http://schemas.openxmlformats.org/drawingml/2006/main">
            <a:off x="8100000" y="720000"/>
            <a:ext cx="342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RELATIONSHIPS TAB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Heatmap — Pearson correlation matrix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Scatter + OLS trendline —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   Discount vs Revenue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Scatter + OLS trendline —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   Quantity vs Revenue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Bubble scatter —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   Unit Price vs Revenue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Violin plot —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   Profit Margin by Category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Bubble chart —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   Discount vs AOV by rep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INSIGHTS TAB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Colour-coded insight cards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Segment summary table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• Expandable recommendations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8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100049" name="SlideTitle"/>
          <p:cNvSpPr txBox="1"/>
          <p:nvPr/>
        </p:nvSpPr>
        <p:spPr>
          <a:xfrm xmlns:a="http://schemas.openxmlformats.org/drawingml/2006/main">
            <a:off x="540000" y="72000"/>
            <a:ext cx="10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Auto-Generated Business Insights</a:t>
            </a:r>
          </a:p>
        </p:txBody>
      </p:sp>
      <p:sp>
        <p:nvSpPr>
          <p:cNvPr id="100050" name="I1"/>
          <p:cNvSpPr txBox="1"/>
          <p:nvPr/>
        </p:nvSpPr>
        <p:spPr>
          <a:xfrm xmlns:a="http://schemas.openxmlformats.org/drawingml/2006/main">
            <a:off x="540000" y="720000"/>
            <a:ext cx="108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DD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55724"/>
                </a:solidFill>
              </a:rPr>
              <a:t>🏆  Top Region: West</a:t>
            </a:r>
          </a:p>
          <a:p xmlns:a="http://schemas.openxmlformats.org/drawingml/2006/main">
            <a:r>
              <a:rPr lang="en-US" sz="1500">
                <a:solidFill>
                  <a:srgbClr val="155724"/>
                </a:solidFill>
              </a:rPr>
              <a:t>Generated the highest revenue. Strong market with consistent order volume across all product categories.</a:t>
            </a:r>
          </a:p>
        </p:txBody>
      </p:sp>
      <p:sp>
        <p:nvSpPr>
          <p:cNvPr id="100051" name="I2"/>
          <p:cNvSpPr txBox="1"/>
          <p:nvPr/>
        </p:nvSpPr>
        <p:spPr>
          <a:xfrm xmlns:a="http://schemas.openxmlformats.org/drawingml/2006/main">
            <a:off x="540000" y="1548000"/>
            <a:ext cx="108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DD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55724"/>
                </a:solidFill>
              </a:rPr>
              <a:t>📦  Top Category: Furniture</a:t>
            </a:r>
          </a:p>
          <a:p xmlns:a="http://schemas.openxmlformats.org/drawingml/2006/main">
            <a:r>
              <a:rPr lang="en-US" sz="1500">
                <a:solidFill>
                  <a:srgbClr val="155724"/>
                </a:solidFill>
              </a:rPr>
              <a:t>Contributed the largest share of total revenue. High average ticket value makes it the anchor category.</a:t>
            </a:r>
          </a:p>
        </p:txBody>
      </p:sp>
      <p:sp>
        <p:nvSpPr>
          <p:cNvPr id="100052" name="I3"/>
          <p:cNvSpPr txBox="1"/>
          <p:nvPr/>
        </p:nvSpPr>
        <p:spPr>
          <a:xfrm xmlns:a="http://schemas.openxmlformats.org/drawingml/2006/main">
            <a:off x="540000" y="2376000"/>
            <a:ext cx="108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DD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55724"/>
                </a:solidFill>
              </a:rPr>
              <a:t>🥇  Top Sales Rep: Eve</a:t>
            </a:r>
          </a:p>
          <a:p xmlns:a="http://schemas.openxmlformats.org/drawingml/2006/main">
            <a:r>
              <a:rPr lang="en-US" sz="1500">
                <a:solidFill>
                  <a:srgbClr val="155724"/>
                </a:solidFill>
              </a:rPr>
              <a:t>Closed the most deals with the highest combined revenue. Techniques should be shared across the team.</a:t>
            </a:r>
          </a:p>
        </p:txBody>
      </p:sp>
      <p:sp>
        <p:nvSpPr>
          <p:cNvPr id="100053" name="I4"/>
          <p:cNvSpPr txBox="1"/>
          <p:nvPr/>
        </p:nvSpPr>
        <p:spPr>
          <a:xfrm xmlns:a="http://schemas.openxmlformats.org/drawingml/2006/main">
            <a:off x="540000" y="3204000"/>
            <a:ext cx="108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7D4000"/>
                </a:solidFill>
              </a:rPr>
              <a:t>💸  Discount Impact: r = –0.018 (near zero)</a:t>
            </a:r>
          </a:p>
          <a:p xmlns:a="http://schemas.openxmlformats.org/drawingml/2006/main">
            <a:r>
              <a:rPr lang="en-US" sz="1500">
                <a:solidFill>
                  <a:srgbClr val="7D4000"/>
                </a:solidFill>
              </a:rPr>
              <a:t>Discounting has negligible effect on revenue. Current discount strategy does not meaningfully drive sales — review thresholds.</a:t>
            </a:r>
          </a:p>
        </p:txBody>
      </p:sp>
      <p:sp>
        <p:nvSpPr>
          <p:cNvPr id="100054" name="I5"/>
          <p:cNvSpPr txBox="1"/>
          <p:nvPr/>
        </p:nvSpPr>
        <p:spPr>
          <a:xfrm xmlns:a="http://schemas.openxmlformats.org/drawingml/2006/main">
            <a:off x="540000" y="4032000"/>
            <a:ext cx="108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C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0C5460"/>
                </a:solidFill>
              </a:rPr>
              <a:t>🛒  Best Channel: Online  |  👤  Dominant Customer Type: New Customers</a:t>
            </a:r>
          </a:p>
          <a:p xmlns:a="http://schemas.openxmlformats.org/drawingml/2006/main">
            <a:r>
              <a:rPr lang="en-US" sz="1500">
                <a:solidFill>
                  <a:srgbClr val="0C5460"/>
                </a:solidFill>
              </a:rPr>
              <a:t>Online channel leads on average order value. New customers outnumber returning — loyalty programme opportunity.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5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100056" name="SlideTitle"/>
          <p:cNvSpPr txBox="1"/>
          <p:nvPr/>
        </p:nvSpPr>
        <p:spPr>
          <a:xfrm xmlns:a="http://schemas.openxmlformats.org/drawingml/2006/main">
            <a:off x="540000" y="72000"/>
            <a:ext cx="10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Business Recommendations</a:t>
            </a:r>
          </a:p>
        </p:txBody>
      </p:sp>
      <p:sp>
        <p:nvSpPr>
          <p:cNvPr id="100057" name="R1"/>
          <p:cNvSpPr txBox="1"/>
          <p:nvPr/>
        </p:nvSpPr>
        <p:spPr>
          <a:xfrm xmlns:a="http://schemas.openxmlformats.org/drawingml/2006/main">
            <a:off x="540000" y="720000"/>
            <a:ext cx="522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1  Invest in top-performing regions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Double down on West and South — proven demand, strong AOV. Prioritise marketing budget and inventory allocation here.</a:t>
            </a:r>
          </a:p>
        </p:txBody>
      </p:sp>
      <p:sp>
        <p:nvSpPr>
          <p:cNvPr id="100058" name="R2"/>
          <p:cNvSpPr txBox="1"/>
          <p:nvPr/>
        </p:nvSpPr>
        <p:spPr>
          <a:xfrm xmlns:a="http://schemas.openxmlformats.org/drawingml/2006/main">
            <a:off x="6120000" y="720000"/>
            <a:ext cx="522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2  Optimise discount strategy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Current discounting has near-zero revenue impact (r=–0.018). Analyse breakeven discount tiers and cap at the margin threshold.</a:t>
            </a:r>
          </a:p>
        </p:txBody>
      </p:sp>
      <p:sp>
        <p:nvSpPr>
          <p:cNvPr id="100059" name="R3"/>
          <p:cNvSpPr txBox="1"/>
          <p:nvPr/>
        </p:nvSpPr>
        <p:spPr>
          <a:xfrm xmlns:a="http://schemas.openxmlformats.org/drawingml/2006/main">
            <a:off x="540000" y="1908000"/>
            <a:ext cx="522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3  Expand the Furniture category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Furniture is the top revenue driver. Increase SKU depth, run targeted promotions and explore bundle pricing.</a:t>
            </a:r>
          </a:p>
        </p:txBody>
      </p:sp>
      <p:sp>
        <p:nvSpPr>
          <p:cNvPr id="100060" name="R4"/>
          <p:cNvSpPr txBox="1"/>
          <p:nvPr/>
        </p:nvSpPr>
        <p:spPr>
          <a:xfrm xmlns:a="http://schemas.openxmlformats.org/drawingml/2006/main">
            <a:off x="6120000" y="1908000"/>
            <a:ext cx="522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4  Scale top rep techniques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Eve's approach yields the best results. Document her sales methodology and integrate into team training programs.</a:t>
            </a:r>
          </a:p>
        </p:txBody>
      </p:sp>
      <p:sp>
        <p:nvSpPr>
          <p:cNvPr id="100061" name="R5"/>
          <p:cNvSpPr txBox="1"/>
          <p:nvPr/>
        </p:nvSpPr>
        <p:spPr>
          <a:xfrm xmlns:a="http://schemas.openxmlformats.org/drawingml/2006/main">
            <a:off x="540000" y="3096000"/>
            <a:ext cx="522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5  Amplify the Online channel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Online already matches Retail in revenue with higher AOV. Increase digital marketing spend and A/B test offers before rolling out.</a:t>
            </a:r>
          </a:p>
        </p:txBody>
      </p:sp>
      <p:sp>
        <p:nvSpPr>
          <p:cNvPr id="100062" name="R6"/>
          <p:cNvSpPr txBox="1"/>
          <p:nvPr/>
        </p:nvSpPr>
        <p:spPr>
          <a:xfrm xmlns:a="http://schemas.openxmlformats.org/drawingml/2006/main">
            <a:off x="6120000" y="3096000"/>
            <a:ext cx="522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6  Build a customer loyalty programme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New customers dominate, but returning customers signal lifetime value. Introduce personalised offers to increase repeat purchase rate.</a:t>
            </a:r>
          </a:p>
        </p:txBody>
      </p:sp>
      <p:sp>
        <p:nvSpPr>
          <p:cNvPr id="100063" name="R7"/>
          <p:cNvSpPr txBox="1"/>
          <p:nvPr/>
        </p:nvSpPr>
        <p:spPr>
          <a:xfrm xmlns:a="http://schemas.openxmlformats.org/drawingml/2006/main">
            <a:off x="540000" y="4284000"/>
            <a:ext cx="1080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7  Seasonal inventory planning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Use Q4 peak data to forecast demand spikes. Pre-position Furniture and Electronics inventory 6–8 weeks ahead to avoid stockouts.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A3557"/>
        </a:solidFill>
      </p:bgPr>
    </p:bg>
    <p:spTree>
      <p:nvGrpSpPr>
        <p:cNvPr id="1" name=""/>
        <p:cNvGrpSpPr/>
        <p:nvPr/>
      </p:nvGrpSpPr>
      <p:grpSpPr/>
      <p:sp>
        <p:nvSpPr>
          <p:cNvPr id="100064" name="Heading"/>
          <p:cNvSpPr txBox="1"/>
          <p:nvPr/>
        </p:nvSpPr>
        <p:spPr>
          <a:xfrm xmlns:a="http://schemas.openxmlformats.org/drawingml/2006/main">
            <a:off x="720000" y="1080000"/>
            <a:ext cx="104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00065" name="Summary"/>
          <p:cNvSpPr txBox="1"/>
          <p:nvPr/>
        </p:nvSpPr>
        <p:spPr>
          <a:xfrm xmlns:a="http://schemas.openxmlformats.org/drawingml/2006/main">
            <a:off x="1080000" y="1980000"/>
            <a:ext cx="972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B0C8E8"/>
                </a:solidFill>
              </a:rPr>
              <a:t>This project delivered a complete end-to-end sales analytics pipeline — from raw CSV ingestion through data cleaning, statistical analysis, feature correlation and visual storytelling — packaged as a live, interactive Streamlit dashboard.</a:t>
            </a:r>
          </a:p>
        </p:txBody>
      </p:sp>
      <p:sp>
        <p:nvSpPr>
          <p:cNvPr id="100066" name="Bullets"/>
          <p:cNvSpPr txBox="1"/>
          <p:nvPr/>
        </p:nvSpPr>
        <p:spPr>
          <a:xfrm xmlns:a="http://schemas.openxmlformats.org/drawingml/2006/main">
            <a:off x="1440000" y="3060000"/>
            <a:ext cx="900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7EC8E3"/>
                </a:solidFill>
              </a:rPr>
              <a:t>✔  1,000 clean transactions analysed across 14 dimensions</a:t>
            </a:r>
          </a:p>
          <a:p xmlns:a="http://schemas.openxmlformats.org/drawingml/2006/main">
            <a:r>
              <a:rPr lang="en-US" sz="1700">
                <a:solidFill>
                  <a:srgbClr val="7EC8E3"/>
                </a:solidFill>
              </a:rPr>
              <a:t>✔  8 KPIs computed including revenue, profit and margin</a:t>
            </a:r>
          </a:p>
          <a:p xmlns:a="http://schemas.openxmlformats.org/drawingml/2006/main">
            <a:r>
              <a:rPr lang="en-US" sz="1700">
                <a:solidFill>
                  <a:srgbClr val="7EC8E3"/>
                </a:solidFill>
              </a:rPr>
              <a:t>✔  20+ interactive Plotly charts across 6 dashboard tabs</a:t>
            </a:r>
          </a:p>
          <a:p xmlns:a="http://schemas.openxmlformats.org/drawingml/2006/main">
            <a:r>
              <a:rPr lang="en-US" sz="1700">
                <a:solidFill>
                  <a:srgbClr val="7EC8E3"/>
                </a:solidFill>
              </a:rPr>
              <a:t>✔  Pearson correlation across all key numeric features</a:t>
            </a:r>
          </a:p>
          <a:p xmlns:a="http://schemas.openxmlformats.org/drawingml/2006/main">
            <a:r>
              <a:rPr lang="en-US" sz="1700">
                <a:solidFill>
                  <a:srgbClr val="7EC8E3"/>
                </a:solidFill>
              </a:rPr>
              <a:t>✔  7 data-driven business recommendations generated</a:t>
            </a:r>
          </a:p>
          <a:p xmlns:a="http://schemas.openxmlformats.org/drawingml/2006/main">
            <a:r>
              <a:rPr lang="en-US" sz="1700">
                <a:solidFill>
                  <a:srgbClr val="7EC8E3"/>
                </a:solidFill>
              </a:rPr>
              <a:t>✔  Fully modular Python codebase — reusable and extensible</a:t>
            </a:r>
          </a:p>
        </p:txBody>
      </p:sp>
      <p:sp>
        <p:nvSpPr>
          <p:cNvPr id="100067" name="RunCmd"/>
          <p:cNvSpPr txBox="1"/>
          <p:nvPr/>
        </p:nvSpPr>
        <p:spPr>
          <a:xfrm xmlns:a="http://schemas.openxmlformats.org/drawingml/2006/main">
            <a:off x="1800000" y="5400000"/>
            <a:ext cx="828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8E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1A3557"/>
                </a:solidFill>
              </a:rPr>
              <a:t>python -m streamlit run sales_analysis/app.py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8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100069" name="SlideTitle"/>
          <p:cNvSpPr txBox="1"/>
          <p:nvPr/>
        </p:nvSpPr>
        <p:spPr>
          <a:xfrm xmlns:a="http://schemas.openxmlformats.org/drawingml/2006/main">
            <a:off x="540000" y="72000"/>
            <a:ext cx="10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100070" name="Left"/>
          <p:cNvSpPr txBox="1"/>
          <p:nvPr/>
        </p:nvSpPr>
        <p:spPr>
          <a:xfrm xmlns:a="http://schemas.openxmlformats.org/drawingml/2006/main">
            <a:off x="540000" y="720000"/>
            <a:ext cx="3420000" cy="50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>SOURCE FILE</a:t>
            </a:r>
          </a:p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>sales_data.csv</a:t>
            </a:r>
          </a:p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>TOTAL ROWS</a:t>
            </a:r>
          </a:p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>1,002  (incl. header)</a:t>
            </a:r>
          </a:p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>CLEAN ROWS</a:t>
            </a:r>
          </a:p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>1,000  (after validation)</a:t>
            </a:r>
          </a:p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>COLUMNS</a:t>
            </a:r>
          </a:p>
          <a:p xmlns:a="http://schemas.openxmlformats.org/drawingml/2006/main">
            <a:r>
              <a:rPr lang="en-US" sz="1600">
                <a:solidFill>
                  <a:srgbClr val="1A3557"/>
                </a:solidFill>
              </a:rPr>
              <a:t>14 features</a:t>
            </a:r>
          </a:p>
        </p:txBody>
      </p:sp>
      <p:sp>
        <p:nvSpPr>
          <p:cNvPr id="100071" name="ColList"/>
          <p:cNvSpPr txBox="1"/>
          <p:nvPr/>
        </p:nvSpPr>
        <p:spPr>
          <a:xfrm xmlns:a="http://schemas.openxmlformats.org/drawingml/2006/main">
            <a:off x="4320000" y="720000"/>
            <a:ext cx="7200000" cy="50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COLUMNS IN DATASET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Product_ID              Unique product identifier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Sale_Date               Transaction date (2023)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Sales_Rep               Name of the sales representative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Region                    North / South / East / West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Sales_Amount           Revenue per transaction ($)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Quantity_Sold            Units sold per transaction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Product_Category      Furniture / Electronics / Food / Clothing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Unit_Cost                 Cost per unit ($)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Unit_Price                 Selling price per unit ($)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Customer_Type          New  /  Returning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Discount                   Applied discount rate (0 – 1)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Payment_Method       Cash / Credit Card / Bank Transfer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Sales_Channel           Online / Retail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Region_and_Sales_Rep  Combined lookup key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2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100073" name="SlideTitle"/>
          <p:cNvSpPr txBox="1"/>
          <p:nvPr/>
        </p:nvSpPr>
        <p:spPr>
          <a:xfrm xmlns:a="http://schemas.openxmlformats.org/drawingml/2006/main">
            <a:off x="540000" y="72000"/>
            <a:ext cx="10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</a:rPr>
              <a:t>Project Architecture &amp; Technology Stack</a:t>
            </a:r>
          </a:p>
        </p:txBody>
      </p:sp>
      <p:sp>
        <p:nvSpPr>
          <p:cNvPr id="100074" name="Arch"/>
          <p:cNvSpPr txBox="1"/>
          <p:nvPr/>
        </p:nvSpPr>
        <p:spPr>
          <a:xfrm xmlns:a="http://schemas.openxmlformats.org/drawingml/2006/main">
            <a:off x="540000" y="720000"/>
            <a:ext cx="576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PROJECT STRUCTURE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sales_analysis/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├── app.py                   Streamlit dashboard (6 tabs)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├── requirements.txt       Python dependencies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└── modules/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    ├── data_loader.py   Load · Audit · Clean · Derive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    └── analysis.py        KPIs · Groups · Correlation · Insights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sales_data.csv              Source dataset (1,000 rows)</a:t>
            </a:r>
          </a:p>
        </p:txBody>
      </p:sp>
      <p:sp>
        <p:nvSpPr>
          <p:cNvPr id="100075" name="Stack"/>
          <p:cNvSpPr txBox="1"/>
          <p:nvPr/>
        </p:nvSpPr>
        <p:spPr>
          <a:xfrm xmlns:a="http://schemas.openxmlformats.org/drawingml/2006/main">
            <a:off x="6660000" y="720000"/>
            <a:ext cx="486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TECH STACK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Python 3.14          Core language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Pandas 2.x            Data loading, cleaning, aggregation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NumPy                  Numeric computation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SciPy                    Pearson correlation &amp; regression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Plotly Express        20+ interactive charts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Statsmodels         OLS trendlines</a:t>
            </a:r>
          </a:p>
          <a:p xmlns:a="http://schemas.openxmlformats.org/drawingml/2006/main">
            <a:r>
              <a:rPr lang="en-US" sz="1400">
                <a:solidFill>
                  <a:srgbClr val="1A3557"/>
                </a:solidFill>
              </a:rPr>
              <a:t>  Streamlit               Web dashboard framework</a:t>
            </a:r>
          </a:p>
        </p:txBody>
      </p:sp>
      <p:sp>
        <p:nvSpPr>
          <p:cNvPr id="100076" name="FlowLabel"/>
          <p:cNvSpPr txBox="1"/>
          <p:nvPr/>
        </p:nvSpPr>
        <p:spPr>
          <a:xfrm xmlns:a="http://schemas.openxmlformats.org/drawingml/2006/main">
            <a:off x="540000" y="3672000"/>
            <a:ext cx="108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A3557"/>
                </a:solidFill>
              </a:rPr>
              <a:t>DATA FLOW PIPELINE</a:t>
            </a:r>
          </a:p>
        </p:txBody>
      </p:sp>
      <p:sp>
        <p:nvSpPr>
          <p:cNvPr id="100077" name="S1"/>
          <p:cNvSpPr txBox="1"/>
          <p:nvPr/>
        </p:nvSpPr>
        <p:spPr>
          <a:xfrm xmlns:a="http://schemas.openxmlformats.org/drawingml/2006/main">
            <a:off x="540000" y="4032000"/>
            <a:ext cx="198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5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1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Load CSV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sales_data.csv</a:t>
            </a:r>
          </a:p>
        </p:txBody>
      </p:sp>
      <p:sp>
        <p:nvSpPr>
          <p:cNvPr id="100078" name="S2"/>
          <p:cNvSpPr txBox="1"/>
          <p:nvPr/>
        </p:nvSpPr>
        <p:spPr>
          <a:xfrm xmlns:a="http://schemas.openxmlformats.org/drawingml/2006/main">
            <a:off x="2808000" y="4032000"/>
            <a:ext cx="198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DA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2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Audit Quality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8 checks</a:t>
            </a:r>
          </a:p>
        </p:txBody>
      </p:sp>
      <p:sp>
        <p:nvSpPr>
          <p:cNvPr id="100079" name="S3"/>
          <p:cNvSpPr txBox="1"/>
          <p:nvPr/>
        </p:nvSpPr>
        <p:spPr>
          <a:xfrm xmlns:a="http://schemas.openxmlformats.org/drawingml/2006/main">
            <a:off x="5076000" y="4032000"/>
            <a:ext cx="198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6C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3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Clean &amp; Derive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8 steps + cols</a:t>
            </a:r>
          </a:p>
        </p:txBody>
      </p:sp>
      <p:sp>
        <p:nvSpPr>
          <p:cNvPr id="100080" name="S4"/>
          <p:cNvSpPr txBox="1"/>
          <p:nvPr/>
        </p:nvSpPr>
        <p:spPr>
          <a:xfrm xmlns:a="http://schemas.openxmlformats.org/drawingml/2006/main">
            <a:off x="7344000" y="4032000"/>
            <a:ext cx="198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4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4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Analyse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KPIs + Groups</a:t>
            </a:r>
          </a:p>
        </p:txBody>
      </p:sp>
      <p:sp>
        <p:nvSpPr>
          <p:cNvPr id="100081" name="S5"/>
          <p:cNvSpPr txBox="1"/>
          <p:nvPr/>
        </p:nvSpPr>
        <p:spPr>
          <a:xfrm xmlns:a="http://schemas.openxmlformats.org/drawingml/2006/main">
            <a:off x="9612000" y="4032000"/>
            <a:ext cx="198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F9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5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Visualise</a:t>
            </a:r>
          </a:p>
          <a:p xmlns:a="http://schemas.openxmlformats.org/drawingml/2006/main">
            <a:pPr algn="ctr"/>
            <a:r>
              <a:rPr lang="en-US" sz="1300">
                <a:solidFill>
                  <a:srgbClr val="FFFFFF"/>
                </a:solidFill>
              </a:rPr>
              <a:t>Streamlit UI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2026-09-23T16:34:37Z</dcterms:created>
  <cp:lastModifiedBy>OfficeCLI</cp:lastModifiedBy>
  <dcterms:modified xsi:type="dcterms:W3CDTF">2026-09-23T16:34:37Z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2026-09-23T17:25:01Z</vt:lpwstr>
  </op:property>
</op:Properties>
</file>